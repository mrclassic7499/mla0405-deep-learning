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319" r:id="rId2"/>
    <p:sldId id="444" r:id="rId3"/>
    <p:sldId id="446" r:id="rId4"/>
    <p:sldId id="274" r:id="rId5"/>
    <p:sldId id="417" r:id="rId6"/>
    <p:sldId id="258" r:id="rId7"/>
    <p:sldId id="422" r:id="rId8"/>
    <p:sldId id="421" r:id="rId9"/>
    <p:sldId id="448" r:id="rId10"/>
    <p:sldId id="423" r:id="rId11"/>
    <p:sldId id="419" r:id="rId12"/>
    <p:sldId id="449" r:id="rId13"/>
    <p:sldId id="462" r:id="rId14"/>
    <p:sldId id="450" r:id="rId15"/>
    <p:sldId id="461" r:id="rId16"/>
    <p:sldId id="451" r:id="rId17"/>
    <p:sldId id="460" r:id="rId18"/>
    <p:sldId id="452" r:id="rId19"/>
    <p:sldId id="459" r:id="rId20"/>
    <p:sldId id="453" r:id="rId21"/>
    <p:sldId id="458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787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923D6-0CC9-FB4D-A2E2-AE22062AF33D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D6BEB-B860-4F4D-972C-F1731825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95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4175" y="685800"/>
            <a:ext cx="6083300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54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811D-EC9E-7484-99F4-79F9E2B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84080-E6FA-1F06-7AEA-C3A1A9109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FCD66-DA33-A49C-8555-B1EC895D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427F7-461F-B3F3-31F3-958A539B9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134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361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83F7-D107-DDFD-2037-C1BD0C26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76835-841C-09CF-027A-2B15C5272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6E51E-DF63-9461-CA31-6D4BCA902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39383-B773-93B4-1BE6-640F8AD05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6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EAFA-EDF5-C434-E1FA-F2F3A4CB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80F15-9EDF-0ABD-A76C-199FC771B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5D283-E943-5D94-B9CD-68151D4C6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32DD5-A706-E767-6C31-9B77FD92B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9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1A50A-8A57-27FA-F4CB-79FFA7287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5BA01-2B22-054F-3B9A-40F7DC3F7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8AA43-B39F-0C67-EAAD-3C0E5FC1C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DF2ED-9AAE-A669-ECAE-2C1403E68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52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B3D5-3B4A-B17A-6DB4-3F576F50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35034-BD65-97B5-7A36-99871000E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97AD5-3544-4F59-2B98-AA8224732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28678-79A2-D615-C131-A3DCBBA84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25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CD23F-AA4F-E9BB-760C-2CC84E879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DFEA3-E7C3-0ABA-5B17-20B8DF0FB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921ED-C4DE-E383-3AB7-AC47C2B19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24070-1A4D-2008-F8E8-76DBFF70B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37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0C048-ABF6-1494-C417-FE4DEA5C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B2FA2-CDA6-0F9A-812C-EC74F44BC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3AB94-818B-9DDC-BFB1-AB7DA8AC4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08BC6-606B-3F67-3CE5-556E5A150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30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26F6-6B1E-18AE-10D8-CC0FBA73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C558F-96E1-0A25-7500-56DDC3CFC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E26CE-3482-A97D-A31D-30CA01359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CC31C-F8FA-0844-601C-6AE4D3537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32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F376-CA5A-A029-7E8B-422817A06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0BB84-4EF2-6B62-36C1-D7E1DF795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A1392-DC82-D603-9BCC-D9FCC58AA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21EE4-13C8-AF31-B7D3-AFB5380C1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94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B1FB5-4176-0DE9-73BC-7A66E68E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0482C-E594-C5E5-CD31-68213ED7F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06532-EF61-ECB3-B8A2-1E4CC623D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80A6A-61B7-01CE-6C0E-3E72F8A30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96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C48F-42D7-6C0B-88DF-D01B1368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6DC82-1AEE-F3CC-522A-BB8754025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530D5-6B1F-2029-11B1-BF5311DC2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FA18E-9474-36A2-48A8-537FC78C7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CD6BEB-B860-4F4D-972C-F1731825C90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1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3657600" y="2057401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486562" y="745393"/>
            <a:ext cx="10830187" cy="1510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Capstone Project</a:t>
            </a:r>
          </a:p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Automatic Bone Fracture Detection and Classification from X-Ray Images Using Deep Learning with VGG16 and ResNet50 </a:t>
            </a:r>
          </a:p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Team no. 6</a:t>
            </a:r>
          </a:p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0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MLA0405 – Deep Learning </a:t>
            </a:r>
          </a:p>
          <a:p>
            <a:pPr lvl="1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62BA2-E9A3-31FD-C47B-CA5508C2FCB3}"/>
              </a:ext>
            </a:extLst>
          </p:cNvPr>
          <p:cNvSpPr txBox="1"/>
          <p:nvPr/>
        </p:nvSpPr>
        <p:spPr>
          <a:xfrm>
            <a:off x="685800" y="5135731"/>
            <a:ext cx="32004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Guided By	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A. M. Arul Raj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Professor	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SIMATS Engineering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E6B65-073B-6FAE-455C-38DD091E074B}"/>
              </a:ext>
            </a:extLst>
          </p:cNvPr>
          <p:cNvSpPr txBox="1"/>
          <p:nvPr/>
        </p:nvSpPr>
        <p:spPr>
          <a:xfrm>
            <a:off x="8255000" y="4602025"/>
            <a:ext cx="381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Students Name</a:t>
            </a:r>
          </a:p>
          <a:p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S.Mubarak(192425194)</a:t>
            </a:r>
          </a:p>
          <a:p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D. Devisri Prasad(192425221)</a:t>
            </a:r>
          </a:p>
          <a:p>
            <a:r>
              <a:rPr lang="en-US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D. Chinna Moulali(192425278)</a:t>
            </a:r>
          </a:p>
          <a:p>
            <a:r>
              <a:rPr lang="de-DE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N.Kameshwar Reddy(192525272)</a:t>
            </a:r>
          </a:p>
          <a:p>
            <a:r>
              <a:rPr lang="de-DE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N.Jeevan sai(192525169)</a:t>
            </a:r>
            <a:endParaRPr lang="en-US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CAD23-B2D9-4881-5F74-92344A62CEB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10395F-474C-3E3A-9156-484EDD55633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100" y="733503"/>
            <a:ext cx="7499350" cy="7921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187" y="2091352"/>
            <a:ext cx="10178643" cy="309403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 automated system for detecting and classifying bone fractures from X-ray images using Deep Learning.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Transfer Learning with VGG16 and ResNet50 models to extract features and improve classification accuracy.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data preprocessing, model training, and fracture classification on X-ray image datasets.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and compares both models using performance metrics such as Accuracy, Precision, Recall, and F1-Score.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 and accurate fracture predictions to assist radiologists in improving diagnosis and clinical decision-making.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7D6BD-DEA5-932C-1C26-EA229F6EBC3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84EF59-DB95-4E75-9F13-53F56682158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190" y="818548"/>
            <a:ext cx="7499350" cy="7921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617" y="1686910"/>
            <a:ext cx="10668000" cy="46640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To develop an automated deep learning system for detecting and classifying bone fractures from X-ray images 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learning models, enabling accurate and efficient diagnosis.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bone X-ray images to create a high-quality dataset for model training.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meaningful image features using transfer learning with VGG16 and ResNet50.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classify bone fractures accurately using deep learning techniques.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compare the performance of both models using metrics such as Accuracy, Precision, Recall, and F1-Score.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prediction system that provides fast and reliable fracture detection results to assist healthcare professionals.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DFD8F5-F709-269A-1B33-D9CCE66CD12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E9BCF-B0A0-CD31-9937-9EECF373E47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75E923-57E4-2D4B-6373-DDBC0DEE545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9752" y="344026"/>
            <a:ext cx="1135117" cy="1342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3939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672" y="711340"/>
            <a:ext cx="10972800" cy="11430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63281"/>
            <a:ext cx="10972800" cy="501354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Bone fractures are common injuries that require accurate and timely diagnosis for effective treatment.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X-ray imaging is the standard method used by doctors to identify bone fractures.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X-ray images can be time-consuming and may result in diagnostic errors.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Deep Learning with VGG16 and ResNet50 transfer learning models to automatically detect and classify bone fractures.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improve diagnostic accuracy, reduce analysis time, and assist healthcare professionals in making faster clinical decisions. 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8787" y="591097"/>
            <a:ext cx="7499350" cy="7921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AF6BB76-E57E-CFD5-047B-E7AF1B6A7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9915332"/>
              </p:ext>
            </p:extLst>
          </p:nvPr>
        </p:nvGraphicFramePr>
        <p:xfrm>
          <a:off x="729842" y="1676401"/>
          <a:ext cx="10293290" cy="498997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470470">
                  <a:extLst>
                    <a:ext uri="{9D8B030D-6E8A-4147-A177-3AD203B41FA5}">
                      <a16:colId xmlns:a16="http://schemas.microsoft.com/office/drawing/2014/main" val="2437745299"/>
                    </a:ext>
                  </a:extLst>
                </a:gridCol>
                <a:gridCol w="1470470">
                  <a:extLst>
                    <a:ext uri="{9D8B030D-6E8A-4147-A177-3AD203B41FA5}">
                      <a16:colId xmlns:a16="http://schemas.microsoft.com/office/drawing/2014/main" val="4276635823"/>
                    </a:ext>
                  </a:extLst>
                </a:gridCol>
                <a:gridCol w="1470470">
                  <a:extLst>
                    <a:ext uri="{9D8B030D-6E8A-4147-A177-3AD203B41FA5}">
                      <a16:colId xmlns:a16="http://schemas.microsoft.com/office/drawing/2014/main" val="1433455492"/>
                    </a:ext>
                  </a:extLst>
                </a:gridCol>
                <a:gridCol w="1470470">
                  <a:extLst>
                    <a:ext uri="{9D8B030D-6E8A-4147-A177-3AD203B41FA5}">
                      <a16:colId xmlns:a16="http://schemas.microsoft.com/office/drawing/2014/main" val="3438337006"/>
                    </a:ext>
                  </a:extLst>
                </a:gridCol>
                <a:gridCol w="1470470">
                  <a:extLst>
                    <a:ext uri="{9D8B030D-6E8A-4147-A177-3AD203B41FA5}">
                      <a16:colId xmlns:a16="http://schemas.microsoft.com/office/drawing/2014/main" val="1166151958"/>
                    </a:ext>
                  </a:extLst>
                </a:gridCol>
                <a:gridCol w="1470470">
                  <a:extLst>
                    <a:ext uri="{9D8B030D-6E8A-4147-A177-3AD203B41FA5}">
                      <a16:colId xmlns:a16="http://schemas.microsoft.com/office/drawing/2014/main" val="3851781668"/>
                    </a:ext>
                  </a:extLst>
                </a:gridCol>
                <a:gridCol w="1470470">
                  <a:extLst>
                    <a:ext uri="{9D8B030D-6E8A-4147-A177-3AD203B41FA5}">
                      <a16:colId xmlns:a16="http://schemas.microsoft.com/office/drawing/2014/main" val="2383954491"/>
                    </a:ext>
                  </a:extLst>
                </a:gridCol>
              </a:tblGrid>
              <a:tr h="42365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Journal / Book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938" marR="38938" marT="19469" marB="19469" anchor="ctr"/>
                </a:tc>
                <a:extLst>
                  <a:ext uri="{0D108BD9-81ED-4DB2-BD59-A6C34878D82A}">
                    <a16:rowId xmlns:a16="http://schemas.microsoft.com/office/drawing/2014/main" val="3120348569"/>
                  </a:ext>
                </a:extLst>
              </a:tr>
              <a:tr h="1189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Olczak et al.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 for Fracture Detection in Musculoskeletal Radiographs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Medical Image Analysis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AI-assisted diagnosis improved fracture detection accuracy and reduced diagnostic errors.</a:t>
                      </a:r>
                    </a:p>
                  </a:txBody>
                  <a:tcPr marL="38938" marR="38938" marT="19469" marB="19469" anchor="ctr"/>
                </a:tc>
                <a:extLst>
                  <a:ext uri="{0D108BD9-81ED-4DB2-BD59-A6C34878D82A}">
                    <a16:rowId xmlns:a16="http://schemas.microsoft.com/office/drawing/2014/main" val="391721614"/>
                  </a:ext>
                </a:extLst>
              </a:tr>
              <a:tr h="99799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Bone Fracture Classification Using Transfer Learning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on X-ray Images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 achieved high classification accuracy with reduced training time.</a:t>
                      </a:r>
                    </a:p>
                  </a:txBody>
                  <a:tcPr marL="38938" marR="38938" marT="19469" marB="19469" anchor="ctr"/>
                </a:tc>
                <a:extLst>
                  <a:ext uri="{0D108BD9-81ED-4DB2-BD59-A6C34878D82A}">
                    <a16:rowId xmlns:a16="http://schemas.microsoft.com/office/drawing/2014/main" val="3588613691"/>
                  </a:ext>
                </a:extLst>
              </a:tr>
              <a:tr h="1189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Cheng et al.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Bone Fracture Detection Using Deep Residual Networks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and Image Classification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 provided better feature extraction and higher accuracy than conventional CNNs.</a:t>
                      </a:r>
                    </a:p>
                  </a:txBody>
                  <a:tcPr marL="38938" marR="38938" marT="19469" marB="19469" anchor="ctr"/>
                </a:tc>
                <a:extLst>
                  <a:ext uri="{0D108BD9-81ED-4DB2-BD59-A6C34878D82A}">
                    <a16:rowId xmlns:a16="http://schemas.microsoft.com/office/drawing/2014/main" val="2676229371"/>
                  </a:ext>
                </a:extLst>
              </a:tr>
              <a:tr h="118944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Bone Fracture Detection from X-Ray Images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Preprocessing and CNN Classification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 &amp; ResNet50</a:t>
                      </a:r>
                    </a:p>
                  </a:txBody>
                  <a:tcPr marL="38938" marR="38938" marT="19469" marB="19469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showed ResNet50 outperformed VGG16 in fracture detection.</a:t>
                      </a:r>
                    </a:p>
                  </a:txBody>
                  <a:tcPr marL="38938" marR="38938" marT="19469" marB="19469" anchor="ctr"/>
                </a:tc>
                <a:extLst>
                  <a:ext uri="{0D108BD9-81ED-4DB2-BD59-A6C34878D82A}">
                    <a16:rowId xmlns:a16="http://schemas.microsoft.com/office/drawing/2014/main" val="424658702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B461573-5F73-D51C-4F78-92FBFA2AE82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F7CAE0-724F-2B85-6EE0-1E06F983D6E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4C9D34A-07CC-615A-52FD-0588D552325C}"/>
              </a:ext>
            </a:extLst>
          </p:cNvPr>
          <p:cNvSpPr txBox="1">
            <a:spLocks/>
          </p:cNvSpPr>
          <p:nvPr/>
        </p:nvSpPr>
        <p:spPr>
          <a:xfrm>
            <a:off x="2143100" y="943684"/>
            <a:ext cx="749935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B3E27B-6301-BD2F-A59F-10F47A9694BF}"/>
              </a:ext>
            </a:extLst>
          </p:cNvPr>
          <p:cNvSpPr txBox="1">
            <a:spLocks/>
          </p:cNvSpPr>
          <p:nvPr/>
        </p:nvSpPr>
        <p:spPr>
          <a:xfrm>
            <a:off x="1730335" y="2680623"/>
            <a:ext cx="8202930" cy="2980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X-ray analysis is time-consuming.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 detection depends on radiologist expertise.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fractures may be missed during manual analysis.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handle a large number of X-ray images.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may cause errors and delays.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deep learning system is needed for fast and accurate fracture detection.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4CF63AB-DBF3-6719-CF40-C6BDC60B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ABF416-E877-FF03-BD4F-43C05BA2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674" y="194790"/>
            <a:ext cx="9015841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86989A-CAD7-C1A4-1B34-23DCBD9DF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176051"/>
              </p:ext>
            </p:extLst>
          </p:nvPr>
        </p:nvGraphicFramePr>
        <p:xfrm>
          <a:off x="1149344" y="1645920"/>
          <a:ext cx="9378840" cy="492165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689420">
                  <a:extLst>
                    <a:ext uri="{9D8B030D-6E8A-4147-A177-3AD203B41FA5}">
                      <a16:colId xmlns:a16="http://schemas.microsoft.com/office/drawing/2014/main" val="571735579"/>
                    </a:ext>
                  </a:extLst>
                </a:gridCol>
                <a:gridCol w="4689420">
                  <a:extLst>
                    <a:ext uri="{9D8B030D-6E8A-4147-A177-3AD203B41FA5}">
                      <a16:colId xmlns:a16="http://schemas.microsoft.com/office/drawing/2014/main" val="923542375"/>
                    </a:ext>
                  </a:extLst>
                </a:gridCol>
              </a:tblGrid>
              <a:tr h="330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386729"/>
                  </a:ext>
                </a:extLst>
              </a:tr>
              <a:tr h="1074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Bone fractures are diagnosed manually by radiologists through visual inspection of X-ray images.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Bone fractures are detected and classified automatically using Deep Learning models (VGG16 and ResNet50).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3258799"/>
                  </a:ext>
                </a:extLst>
              </a:tr>
              <a:tr h="826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Diagnosis is time-consuming and depends on the expertise of the radiologist.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fast and consistent predictions with minimal human intervention.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718248"/>
                  </a:ext>
                </a:extLst>
              </a:tr>
              <a:tr h="826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analysis may lead to diagnostic errors, especially for subtle fractures.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 improves feature extraction and enhances detection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064690"/>
                  </a:ext>
                </a:extLst>
              </a:tr>
              <a:tr h="826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methods have limited capability to handle large volumes of X-ray images efficiently.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efficiently processes large datasets and supports real-time fracture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815880"/>
                  </a:ext>
                </a:extLst>
              </a:tr>
              <a:tr h="826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automated comparison of different deep learning models for optimal performance.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the performance of VGG16 and ResNet50 using evaluation metrics to identify the best-performing model.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40892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012611D-D04F-2D6A-5359-DD7C1E3F6A1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9841" y="186129"/>
            <a:ext cx="1135117" cy="1342884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4E22B8-E53F-4900-7F0A-E9D97935FD8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6325" y="736851"/>
            <a:ext cx="7499350" cy="7921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Overall System Architecture Design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0DEC2D4-8475-9AC0-D057-B9934A9EC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112" y="1862356"/>
            <a:ext cx="6073775" cy="4789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4F9A6C-8B54-AF2F-EF82-7D963EA8008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9841" y="186129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1F1721-C4A7-2119-7D0D-54BEAEACCF9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B9B0-24AC-7E5B-953F-9E32171D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3B74-BC1E-F666-9CB0-F4726E26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409" y="582484"/>
            <a:ext cx="749935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Sustainable Development Goal (SDG)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685F-D258-E136-F318-FB39EBED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8EE094-0880-C93B-26EF-1CB4373E4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6764" y="261135"/>
            <a:ext cx="975754" cy="1113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BC9CD6A-946D-BCFB-51C4-79CF6532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70" y="388118"/>
            <a:ext cx="1104639" cy="1180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95255C-1F46-CC43-E9E1-E1499EBDD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073238"/>
              </p:ext>
            </p:extLst>
          </p:nvPr>
        </p:nvGraphicFramePr>
        <p:xfrm>
          <a:off x="1870745" y="2057399"/>
          <a:ext cx="8146470" cy="418401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003179">
                  <a:extLst>
                    <a:ext uri="{9D8B030D-6E8A-4147-A177-3AD203B41FA5}">
                      <a16:colId xmlns:a16="http://schemas.microsoft.com/office/drawing/2014/main" val="1915065357"/>
                    </a:ext>
                  </a:extLst>
                </a:gridCol>
                <a:gridCol w="4143291">
                  <a:extLst>
                    <a:ext uri="{9D8B030D-6E8A-4147-A177-3AD203B41FA5}">
                      <a16:colId xmlns:a16="http://schemas.microsoft.com/office/drawing/2014/main" val="2199036147"/>
                    </a:ext>
                  </a:extLst>
                </a:gridCol>
              </a:tblGrid>
              <a:tr h="329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Goal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in the Project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235109"/>
                  </a:ext>
                </a:extLst>
              </a:tr>
              <a:tr h="102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3 – Good Health and Well-being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system assists doctors and radiologists in accurately detecting and classifying bone fractures, leading to faster diagnosis and improved patient care.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518228"/>
                  </a:ext>
                </a:extLst>
              </a:tr>
              <a:tr h="102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9 – Industry, Innovation and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Utilizes advanced Deep Learning techniques (VGG16 and ResNet50) to develop an innovative AI-based healthcare solution for medical image analysis.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278925"/>
                  </a:ext>
                </a:extLst>
              </a:tr>
              <a:tr h="102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10 – Reduced Inequalities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healthcare facilities with limited access to experienced radiologists by providing automated fracture detection, improving access to quality healthcare.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633243"/>
                  </a:ext>
                </a:extLst>
              </a:tr>
              <a:tr h="790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 17 – Partnerships for the Goals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Encourages collaboration between healthcare professionals, AI researchers, and technology developers to enhance medical diagnostic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2054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508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919" y="637622"/>
            <a:ext cx="7499350" cy="792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Methodology and Algorithm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B4728-35FE-152F-7E20-7B4ACB2DD94C}"/>
              </a:ext>
            </a:extLst>
          </p:cNvPr>
          <p:cNvSpPr txBox="1"/>
          <p:nvPr/>
        </p:nvSpPr>
        <p:spPr>
          <a:xfrm>
            <a:off x="780176" y="1838172"/>
            <a:ext cx="9260777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bone X-ray images.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image features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models for fracture detection and classification.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standard metrics.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fractures from new X-ray images and display the results.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320E4-8F26-1AAC-B7FF-A08F8A100B00}"/>
              </a:ext>
            </a:extLst>
          </p:cNvPr>
          <p:cNvSpPr txBox="1"/>
          <p:nvPr/>
        </p:nvSpPr>
        <p:spPr>
          <a:xfrm>
            <a:off x="780176" y="4398352"/>
            <a:ext cx="9734055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Extracts image features and classifies bone fractures.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Deep residual network for accurate fracture detection.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pre-trained models to improve accuracy and reduce training time.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Predicts whether the X-ray is Fractured or Normal.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DBCD10-B5B6-5A03-84D0-38F330845FE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9841" y="186129"/>
            <a:ext cx="1135117" cy="1342884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32B4BB-C005-13F1-12D9-717D30B50D4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5323" y="262025"/>
            <a:ext cx="7499350" cy="7921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966" y="219485"/>
            <a:ext cx="885825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7" y="388118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50C39B2-15C5-0CAC-BC50-BA834BD56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329131"/>
              </p:ext>
            </p:extLst>
          </p:nvPr>
        </p:nvGraphicFramePr>
        <p:xfrm>
          <a:off x="1475836" y="1326833"/>
          <a:ext cx="9240327" cy="521208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080109">
                  <a:extLst>
                    <a:ext uri="{9D8B030D-6E8A-4147-A177-3AD203B41FA5}">
                      <a16:colId xmlns:a16="http://schemas.microsoft.com/office/drawing/2014/main" val="3780662069"/>
                    </a:ext>
                  </a:extLst>
                </a:gridCol>
                <a:gridCol w="3080109">
                  <a:extLst>
                    <a:ext uri="{9D8B030D-6E8A-4147-A177-3AD203B41FA5}">
                      <a16:colId xmlns:a16="http://schemas.microsoft.com/office/drawing/2014/main" val="1778021172"/>
                    </a:ext>
                  </a:extLst>
                </a:gridCol>
                <a:gridCol w="3080109">
                  <a:extLst>
                    <a:ext uri="{9D8B030D-6E8A-4147-A177-3AD203B41FA5}">
                      <a16:colId xmlns:a16="http://schemas.microsoft.com/office/drawing/2014/main" val="2199408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No.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Name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368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 and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bone X-ray images, preprocess them, and prepare the dataset for training.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789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2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using VGG16 &amp; 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 important image features using transfer learning with VGG16 and ResNet50.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888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3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Bone Fracture Detection and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the models to detect and classify bone fractures from X-ray images.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034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4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Evaluation and Performance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and compare the performance of both models using accuracy and other metrics.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43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and Result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 fractures on new X-ray images and display the results with confidence scores.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26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B7A62-4C32-0237-B336-D57F9BAA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86E51-EB2D-7397-9830-E45059323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811" y="1774979"/>
            <a:ext cx="10972800" cy="501354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module, we first collect bone X-ray images from the dataset.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images are divided into two main categories: Fractured and Normal.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collected X-ray images may have different dimensions, all images are resized to 224 × 224 pixels.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normalization is performed so that the pixel values are in a suitable and consistent range for the deep learning models.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techniques such as rotation, flipping, and zooming are applied to create variations of the training images and improve model learning.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prepared dataset is divided into training and testing datasets, which are used for model training and performance evaluation.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3295B2-CF3E-BF6F-3A5C-E9ABB845F2E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18FD8D-28D4-70F2-9F80-CDE22DC3D4E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959F7C-4F0E-34CA-F694-4C2A40E2F2BC}"/>
              </a:ext>
            </a:extLst>
          </p:cNvPr>
          <p:cNvSpPr txBox="1"/>
          <p:nvPr/>
        </p:nvSpPr>
        <p:spPr>
          <a:xfrm>
            <a:off x="2332566" y="708246"/>
            <a:ext cx="7526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Data Collection and Preprocessing</a:t>
            </a:r>
          </a:p>
        </p:txBody>
      </p:sp>
    </p:spTree>
    <p:extLst>
      <p:ext uri="{BB962C8B-B14F-4D97-AF65-F5344CB8AC3E}">
        <p14:creationId xmlns:p14="http://schemas.microsoft.com/office/powerpoint/2010/main" val="4116730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5B73-57CA-6867-7723-727268181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9177FB-3D6C-0044-68BE-BEED909C711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495E11-CF0A-9A7F-A3D6-FB0CF337927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9F9D27-A945-FCB5-AC48-625DD9CCC2C1}"/>
              </a:ext>
            </a:extLst>
          </p:cNvPr>
          <p:cNvSpPr txBox="1"/>
          <p:nvPr/>
        </p:nvSpPr>
        <p:spPr>
          <a:xfrm>
            <a:off x="4507478" y="332956"/>
            <a:ext cx="7526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0E2198-3B41-7FE2-215B-5BBA9A397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1484" y="1040842"/>
            <a:ext cx="9104501" cy="512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86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BDDB-6D19-A058-2BC2-03B6C2DE9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C081-EE2D-30D9-0D22-D35EB67F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01" y="581296"/>
            <a:ext cx="9692452" cy="1067126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Feature Extraction using VGG16 &amp; ResNet50</a:t>
            </a:r>
            <a:b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F2CBB-CCAF-F626-CD22-0469307BD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4" y="1549534"/>
            <a:ext cx="11874953" cy="501354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module, we use two pre-trained deep learning models,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and ResNet50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extracting important features from X-ray images.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means we use knowledge learned from large existing image datasets.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preprocessed X-ray images are given as input to both VGG16 and ResNet50.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convolutional layers automatically identify important image characteristics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edges, shapes, textures, and patterns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extracts features using its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convolutional architecture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ResNet50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connections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deeper feature learning.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features are then forwarded to the classification stage to determine whether the X-ray represents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fractured or normal bone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CEBE2-8887-1346-55F8-B9E4593139B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524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75068F-863D-3778-A951-21291FFE0D3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0795" y="191626"/>
            <a:ext cx="1363549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9930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B77B-FD0D-98DB-36D1-5BCABDAD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DD204F-7B9F-81D0-8919-359BA931E0B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426C33-B300-DC83-049F-BD979CC0DB4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8BB817-2AE7-7CC5-2A52-D9999E0F4A69}"/>
              </a:ext>
            </a:extLst>
          </p:cNvPr>
          <p:cNvSpPr txBox="1"/>
          <p:nvPr/>
        </p:nvSpPr>
        <p:spPr>
          <a:xfrm>
            <a:off x="4507478" y="332956"/>
            <a:ext cx="7526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425BE-7ADC-5DF7-16B5-03BBB036AF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619" y="1733313"/>
            <a:ext cx="5093110" cy="412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98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CB39-3920-AB29-B2D6-CAD7AB33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0BE6-D65A-86B5-2791-8B4A1A86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61" y="991101"/>
            <a:ext cx="9491133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Bone Fracture Detection and Classification</a:t>
            </a:r>
            <a:endParaRPr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3541B-9C2B-AF24-8DCF-99C3342FF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674" y="2733693"/>
            <a:ext cx="11378717" cy="501354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module, the features extracted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and ResNet50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fracture detection.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are trained using the prepared X-ray training dataset.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training, the models learn the visual differences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fractured and normal bones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new X-ray is provided, the trained model analyzes its extracted features.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determine the final class based on the learned features.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classification result is displayed as either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“Fractured” or “Normal.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4AD79-4866-C0E7-58EC-365B3F8073B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C3262D-3D7D-15A2-EEA6-539A87E403F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5569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837BA-76DB-DE90-7F45-59F58B47C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A266BD-C2FF-7660-BAB3-37F849248F3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950446-8618-3BE7-DE16-16CFDB18E5A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CFDEB5-E682-B4C6-9A82-4DECA34337FC}"/>
              </a:ext>
            </a:extLst>
          </p:cNvPr>
          <p:cNvSpPr txBox="1"/>
          <p:nvPr/>
        </p:nvSpPr>
        <p:spPr>
          <a:xfrm>
            <a:off x="4507478" y="332956"/>
            <a:ext cx="7526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C5A0E1-A98B-C80D-DD33-3706FAA6D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57908"/>
            <a:ext cx="12192000" cy="476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84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F884-EDE7-8702-E875-CD96567D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DC9A-91C1-3C79-A20D-061B8722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69" y="863068"/>
            <a:ext cx="9197501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Model Evaluation and Performance Comparison</a:t>
            </a:r>
            <a:endParaRPr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6E8C2-B57B-8000-CC79-D4EB31991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05894"/>
            <a:ext cx="10972800" cy="501354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 the VGG16 and ResNet50 models, we test them using unseen X-ray images.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module is to check how accurately each model can detect bone fractures.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is used to measure the overall percentage of correct predictions.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measures how correctly the model identifies fracture predictions.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and F1-Score are also used to understand the model's detection performance more effectively.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performance of VGG16 and ResNet50 is compared to determine which model provides better fracture detection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8C9AE-DA74-7CAA-A604-6DA958E3118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06BB0A-FFC3-5D55-E8CB-14AF29A2793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7864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5B8C-3124-C1B5-046E-FC8A683BE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1202DF-60EA-194B-7D84-EC2606CAC05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8E4F49-F455-5D7A-D3AD-9DC92C5333A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DDD54F-E607-DC18-2C0B-D225D496115F}"/>
              </a:ext>
            </a:extLst>
          </p:cNvPr>
          <p:cNvSpPr txBox="1"/>
          <p:nvPr/>
        </p:nvSpPr>
        <p:spPr>
          <a:xfrm>
            <a:off x="4507478" y="332956"/>
            <a:ext cx="7526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30308-848C-ED87-4B29-62B6ED60D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55" y="1417559"/>
            <a:ext cx="11834648" cy="551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19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372B2-B197-1F9E-E457-37E5B00B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4346-74AE-9E39-824E-4AE31624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950" y="1171010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Prediction and Result Visualization</a:t>
            </a:r>
            <a:endParaRPr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C5F9-C66A-2977-1ECF-0D46274A2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74342"/>
            <a:ext cx="10972800" cy="501354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final module, a new X-ray image is given to the trained deep learning model.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image is first preprocessed in the same way as the training images.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VGG16 or ResNet50 model extracts the important features from the new X-ray.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classifier uses these features to predict whether the bone is fractured or normal.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the prediction result along with a confidence score.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a fast and consistent result that can assist radiologists and healthcare professionals in clinical decision-making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6A3D44-1D3B-F4AC-A9F7-899E1AA0B9A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6FDF37-83A1-4934-10E7-5BF7426D126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2430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27041-4804-DF48-B7A9-BBEAE22B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2C3A7B-AA88-549F-A72E-421FA9CFFFD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8FB8F6-F6EB-65CC-2E61-4C330AB497B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328181-B7C5-7501-126E-BB291C98B309}"/>
              </a:ext>
            </a:extLst>
          </p:cNvPr>
          <p:cNvSpPr txBox="1"/>
          <p:nvPr/>
        </p:nvSpPr>
        <p:spPr>
          <a:xfrm>
            <a:off x="4507478" y="332956"/>
            <a:ext cx="7526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402F19-B6F9-6198-8985-EB0D622857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52" y="1828800"/>
            <a:ext cx="11405418" cy="432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39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509530"/>
            <a:ext cx="10972800" cy="114300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52" y="1928814"/>
            <a:ext cx="10972800" cy="4525963"/>
          </a:xfrm>
        </p:spPr>
        <p:txBody>
          <a:bodyPr>
            <a:norm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automates bone fracture detection and classification from X-ray images using Deep Learning.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accurate and efficient feature extraction.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helps identify the model with better fracture detection accuracy.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diagnosis time and assists radiologists in making faster and more reliable clinical decisions.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AI-based solution has the potential to improve healthcare services and support future advancements in medical image analysis.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52" y="453781"/>
            <a:ext cx="10972800" cy="114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51" y="1878256"/>
            <a:ext cx="11202677" cy="4525963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Simonyan, K., &amp; Zisserman, A. (2015).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Deep Convolutional Networks for Large-Scale Image Recognition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ICLR.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He, K., Zhang, X., Ren, S., &amp; Sun, J. (2016).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Residual Learning for Image Recognition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Conference on Computer Vision and Pattern Recognition (CVPR).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Goodfellow, I., Bengio, Y., &amp; Courville, A. (2016).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MIT Press.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Deng, J., et al. (2009).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ImageNet: A Large-Scale Hierarchical Image Database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Conference on Computer Vision and Pattern Recognition.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Litjens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et al. (2017).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Survey on Deep Learning in Medical Image Analysis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Medical Image Analysis, 42, 60–88. </a:t>
            </a:r>
          </a:p>
          <a:p>
            <a:pPr lvl="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Olczak, J., et al. (2017).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for Analysis of Orthopedic Trauma Radiographs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Acta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Orthopaedica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67898"/>
            <a:ext cx="10972800" cy="1143000"/>
          </a:xfrm>
        </p:spPr>
        <p:txBody>
          <a:bodyPr>
            <a:normAutofit/>
          </a:bodyPr>
          <a:lstStyle/>
          <a:p>
            <a:r>
              <a:rPr sz="6600" dirty="0">
                <a:latin typeface="Algerian" panose="04020705040A02060702" pitchFamily="82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1857</Words>
  <Application>Microsoft Office PowerPoint</Application>
  <PresentationFormat>Widescreen</PresentationFormat>
  <Paragraphs>223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Algerian</vt:lpstr>
      <vt:lpstr>Arial</vt:lpstr>
      <vt:lpstr>Calibri</vt:lpstr>
      <vt:lpstr>Times New Roman</vt:lpstr>
      <vt:lpstr>Wingdings</vt:lpstr>
      <vt:lpstr>Office Theme</vt:lpstr>
      <vt:lpstr>PowerPoint Presentation</vt:lpstr>
      <vt:lpstr>Abstract </vt:lpstr>
      <vt:lpstr>Aim and Objective </vt:lpstr>
      <vt:lpstr>Introduction</vt:lpstr>
      <vt:lpstr>Literature Review</vt:lpstr>
      <vt:lpstr>PowerPoint Presentation</vt:lpstr>
      <vt:lpstr>Existing System vs Proposed System</vt:lpstr>
      <vt:lpstr>Overall System Architecture Design </vt:lpstr>
      <vt:lpstr>Sustainable Development Goal (SDG) Implementation</vt:lpstr>
      <vt:lpstr>Proposed Methodology and Algorithm  </vt:lpstr>
      <vt:lpstr>Module Planning</vt:lpstr>
      <vt:lpstr>PowerPoint Presentation</vt:lpstr>
      <vt:lpstr>PowerPoint Presentation</vt:lpstr>
      <vt:lpstr>Module 2 – Feature Extraction using VGG16 &amp; ResNet50 </vt:lpstr>
      <vt:lpstr>PowerPoint Presentation</vt:lpstr>
      <vt:lpstr>Module 3 – Bone Fracture Detection and Classification</vt:lpstr>
      <vt:lpstr>PowerPoint Presentation</vt:lpstr>
      <vt:lpstr>Module 4 – Model Evaluation and Performance Comparison</vt:lpstr>
      <vt:lpstr>PowerPoint Presentation</vt:lpstr>
      <vt:lpstr>Module 5 – Prediction and Result Visualization</vt:lpstr>
      <vt:lpstr>PowerPoint Presentation</vt:lpstr>
      <vt:lpstr>Conclusion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Mubarak Shaik</cp:lastModifiedBy>
  <cp:revision>39</cp:revision>
  <dcterms:created xsi:type="dcterms:W3CDTF">2013-01-27T09:14:16Z</dcterms:created>
  <dcterms:modified xsi:type="dcterms:W3CDTF">2026-09-03T05:49:25Z</dcterms:modified>
  <cp:category/>
</cp:coreProperties>
</file>